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6" r:id="rId10"/>
    <p:sldId id="260" r:id="rId11"/>
    <p:sldId id="262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4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886104"/>
            <a:ext cx="9144000" cy="2316702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Data Structures and Algorithms -3 (25CS2103E)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Near-Duplicate Question Finder for Q&amp;A Platforms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58296" y="3202806"/>
            <a:ext cx="4551284" cy="1396014"/>
          </a:xfrm>
        </p:spPr>
        <p:txBody>
          <a:bodyPr/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lang="en-US" sz="1600" dirty="0">
                <a:solidFill>
                  <a:srgbClr val="0070C0"/>
                </a:solidFill>
              </a:rPr>
              <a:t>Team Members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en-US" sz="1400" dirty="0">
                <a:solidFill>
                  <a:srgbClr val="0070C0"/>
                </a:solidFill>
              </a:rPr>
              <a:t>K. Gireesh (2520090215)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lang="en-US" sz="1400" dirty="0">
                <a:solidFill>
                  <a:srgbClr val="0070C0"/>
                </a:solidFill>
              </a:rPr>
              <a:t>P.Gowtham Varma (2520090202)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lang="en-US" sz="1400" dirty="0">
                <a:solidFill>
                  <a:srgbClr val="0070C0"/>
                </a:solidFill>
              </a:rPr>
              <a:t>A.Siddhartha Varma (2520090119)</a:t>
            </a: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endParaRPr lang="en-US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</a:t>
            </a:r>
            <a:endParaRPr lang="en-IN" sz="1800" kern="100" dirty="0">
              <a:latin typeface="Calibri" panose="020F0502020204030204" pitchFamily="34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Dr. Dyuti Banerjee 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Assistant Professor</a:t>
            </a:r>
            <a:r>
              <a:rPr lang="en-US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  AI&amp;DS  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Introduction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Literature survey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Problem Statement and Objectives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Hardware and Software requirements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Results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Conclusion </a:t>
            </a: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Future Scope 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101" name="ContentBox101"/>
          <p:cNvSpPr txBox="1"/>
          <p:nvPr/>
        </p:nvSpPr>
        <p:spPr>
          <a:xfrm>
            <a:off x="3736109" y="900000"/>
            <a:ext cx="6936386" cy="575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 algn="l">
              <a:lnSpc>
                <a:spcPct val="115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Q&amp;A platforms accumulate large numbers of syntactically different but semantically identical questions, fragmenting answers and cluttering search results.</a:t>
            </a:r>
          </a:p>
          <a:p>
            <a:pPr marL="342900" indent="-342900" algn="l">
              <a:lnSpc>
                <a:spcPct val="115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This project builds a scalable near-duplicate question detector using classical data-structure techniques rather than heavy deep-learning models.</a:t>
            </a:r>
          </a:p>
          <a:p>
            <a:pPr marL="342900" indent="-342900" algn="l">
              <a:lnSpc>
                <a:spcPct val="115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Questions are broken into k-gram shingles, fingerprinted with double polynomial hashing, and shortlisted for comparison using Locality-Sensitive Hashing (LSH).</a:t>
            </a:r>
          </a:p>
          <a:p>
            <a:pPr marL="342900" indent="-342900" algn="l">
              <a:lnSpc>
                <a:spcPct val="115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Every LSH candidate pair is then confirmed through exact common-substring analysis, and the resulting precision gain over LSH alone is measured and reported.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102" name="ContentBox102"/>
          <p:cNvSpPr txBox="1"/>
          <p:nvPr/>
        </p:nvSpPr>
        <p:spPr>
          <a:xfrm>
            <a:off x="3736109" y="900000"/>
            <a:ext cx="6936386" cy="575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 algn="l">
              <a:lnSpc>
                <a:spcPct val="115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Platforms such as Stack Overflow and Quora receive thousands of new questions daily; many are near-duplicates of questions already answered.</a:t>
            </a:r>
          </a:p>
          <a:p>
            <a:pPr marL="342900" indent="-342900" algn="l">
              <a:lnSpc>
                <a:spcPct val="115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Manual moderation cannot keep pace with this volume, and unresolved duplicates split useful answers across multiple threads.</a:t>
            </a:r>
          </a:p>
          <a:p>
            <a:pPr marL="342900" indent="-342900" algn="l">
              <a:lnSpc>
                <a:spcPct val="115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Comparing every pair of questions directly is O(n²) and quickly becomes infeasible as the question base grows.</a:t>
            </a:r>
          </a:p>
          <a:p>
            <a:pPr marL="342900" indent="-342900" algn="l">
              <a:lnSpc>
                <a:spcPct val="115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Shingling and hashing shrink each question to a compact fingerprint, and LSH narrows the search to a small set of likely-duplicate candidates.</a:t>
            </a:r>
          </a:p>
          <a:p>
            <a:pPr marL="342900" indent="-342900" algn="l">
              <a:lnSpc>
                <a:spcPct val="115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Because LSH trades some accuracy for speed, an exact verification step is added to confirm true duplicates before they are reported.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sp>
        <p:nvSpPr>
          <p:cNvPr id="103" name="ContentBox103"/>
          <p:cNvSpPr txBox="1"/>
          <p:nvPr/>
        </p:nvSpPr>
        <p:spPr>
          <a:xfrm>
            <a:off x="3736109" y="900000"/>
            <a:ext cx="6936386" cy="575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 algn="l">
              <a:lnSpc>
                <a:spcPct val="115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Calibri" panose="020F0502020204030204" pitchFamily="34" charset="0"/>
              </a:rPr>
              <a:t>Broder (1997) – </a:t>
            </a: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introduced w-shingling and MinHash sketches to estimate document resemblance efficiently.</a:t>
            </a:r>
          </a:p>
          <a:p>
            <a:pPr marL="342900" indent="-342900" algn="l">
              <a:lnSpc>
                <a:spcPct val="115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Calibri" panose="020F0502020204030204" pitchFamily="34" charset="0"/>
              </a:rPr>
              <a:t>Indyk &amp; Motwani – </a:t>
            </a: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proposed Locality-Sensitive Hashing (LSH) for approximate nearest-neighbour search in high-dimensional spaces.</a:t>
            </a:r>
          </a:p>
          <a:p>
            <a:pPr marL="342900" indent="-342900" algn="l">
              <a:lnSpc>
                <a:spcPct val="115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Calibri" panose="020F0502020204030204" pitchFamily="34" charset="0"/>
              </a:rPr>
              <a:t>Rabin–Karp rolling hash – </a:t>
            </a: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a classical polynomial hashing scheme widely used for fast substring and shingle fingerprinting.</a:t>
            </a:r>
          </a:p>
          <a:p>
            <a:pPr marL="342900" indent="-342900" algn="l">
              <a:lnSpc>
                <a:spcPct val="115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Calibri" panose="020F0502020204030204" pitchFamily="34" charset="0"/>
              </a:rPr>
              <a:t>Neural duplicate detectors – </a:t>
            </a: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Siamese and transformer-based models reach high accuracy on question-pair datasets but need heavy compute and large labelled data.</a:t>
            </a:r>
          </a:p>
          <a:p>
            <a:pPr marL="342900" indent="-342900" algn="l">
              <a:lnSpc>
                <a:spcPct val="115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Calibri" panose="020F0502020204030204" pitchFamily="34" charset="0"/>
              </a:rPr>
              <a:t>Gap identified – </a:t>
            </a: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a lightweight, purely hash-based pipeline with an explicit exact-verification stage is comparatively under-explored for Q&amp;A duplicate detection.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</a:p>
        </p:txBody>
      </p:sp>
      <p:sp>
        <p:nvSpPr>
          <p:cNvPr id="104" name="ContentBox104"/>
          <p:cNvSpPr txBox="1"/>
          <p:nvPr/>
        </p:nvSpPr>
        <p:spPr>
          <a:xfrm>
            <a:off x="3736109" y="900000"/>
            <a:ext cx="6936386" cy="5750000"/>
          </a:xfrm>
          <a:prstGeom prst="rect">
            <a:avLst/>
          </a:prstGeom>
          <a:noFill/>
        </p:spPr>
        <p:txBody>
          <a:bodyPr wrap="square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Calibri" panose="020F0502020204030204" pitchFamily="34" charset="0"/>
              </a:rPr>
              <a:t>Problem Statement: </a:t>
            </a: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Given a large collection of questions, identify near-duplicate pairs without exhaustively comparing every pair, while keeping false positives low.</a:t>
            </a:r>
          </a:p>
          <a:p>
            <a:pPr marL="0" indent="0" algn="l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Calibri" panose="020F0502020204030204" pitchFamily="34" charset="0"/>
              </a:rPr>
              <a:t>Objectives</a:t>
            </a:r>
          </a:p>
          <a:p>
            <a:pPr marL="342900" indent="-342900" algn="l">
              <a:lnSpc>
                <a:spcPct val="115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Represent every question as a set of overlapping k-gram shingles.</a:t>
            </a:r>
          </a:p>
          <a:p>
            <a:pPr marL="342900" indent="-342900" algn="l">
              <a:lnSpc>
                <a:spcPct val="115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Fingerprint each shingle with two independent polynomial hash functions (double hashing) to reduce collisions.</a:t>
            </a:r>
          </a:p>
          <a:p>
            <a:pPr marL="342900" indent="-342900" algn="l">
              <a:lnSpc>
                <a:spcPct val="115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Group fingerprints using LSH banding to shortlist candidate duplicate pairs.</a:t>
            </a:r>
          </a:p>
          <a:p>
            <a:pPr marL="342900" indent="-342900" algn="l">
              <a:lnSpc>
                <a:spcPct val="115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Verify each candidate pair with exact longest common-substring analysis.</a:t>
            </a:r>
          </a:p>
          <a:p>
            <a:pPr marL="342900" indent="-342900" algn="l">
              <a:lnSpc>
                <a:spcPct val="115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Measure the precision gained by the verification stage over LSH candidates alone.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</a:p>
        </p:txBody>
      </p:sp>
      <p:sp>
        <p:nvSpPr>
          <p:cNvPr id="200" name="FlowBox200"/>
          <p:cNvSpPr/>
          <p:nvPr/>
        </p:nvSpPr>
        <p:spPr>
          <a:xfrm>
            <a:off x="3517695" y="880000"/>
            <a:ext cx="6100000" cy="6200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sz="1500" b="1" dirty="0">
                <a:solidFill>
                  <a:schemeClr val="bg1"/>
                </a:solidFill>
              </a:rPr>
              <a:t>Input Questions (raw text corpus)</a:t>
            </a:r>
          </a:p>
        </p:txBody>
      </p:sp>
      <p:sp>
        <p:nvSpPr>
          <p:cNvPr id="201" name="Arrow201"/>
          <p:cNvSpPr txBox="1"/>
          <p:nvPr/>
        </p:nvSpPr>
        <p:spPr>
          <a:xfrm>
            <a:off x="3431927" y="1485690"/>
            <a:ext cx="6100000" cy="26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▼</a:t>
            </a:r>
          </a:p>
        </p:txBody>
      </p:sp>
      <p:sp>
        <p:nvSpPr>
          <p:cNvPr id="202" name="FlowBox202"/>
          <p:cNvSpPr/>
          <p:nvPr/>
        </p:nvSpPr>
        <p:spPr>
          <a:xfrm>
            <a:off x="3517695" y="1703765"/>
            <a:ext cx="6100000" cy="6200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sz="1500" b="1" dirty="0">
                <a:solidFill>
                  <a:schemeClr val="bg1"/>
                </a:solidFill>
              </a:rPr>
              <a:t>Pre-process &amp; Tokenize (normalize, remove stop-words)</a:t>
            </a:r>
          </a:p>
        </p:txBody>
      </p:sp>
      <p:sp>
        <p:nvSpPr>
          <p:cNvPr id="203" name="Arrow203"/>
          <p:cNvSpPr txBox="1"/>
          <p:nvPr/>
        </p:nvSpPr>
        <p:spPr>
          <a:xfrm>
            <a:off x="3431927" y="2353462"/>
            <a:ext cx="6100000" cy="26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▼</a:t>
            </a:r>
          </a:p>
        </p:txBody>
      </p:sp>
      <p:sp>
        <p:nvSpPr>
          <p:cNvPr id="204" name="FlowBox204"/>
          <p:cNvSpPr/>
          <p:nvPr/>
        </p:nvSpPr>
        <p:spPr>
          <a:xfrm>
            <a:off x="3517695" y="2599152"/>
            <a:ext cx="6100000" cy="6200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sz="1500" b="1" dirty="0">
                <a:solidFill>
                  <a:schemeClr val="bg1"/>
                </a:solidFill>
              </a:rPr>
              <a:t>k-Gram Shingling (generate overlapping shingles)</a:t>
            </a:r>
          </a:p>
        </p:txBody>
      </p:sp>
      <p:sp>
        <p:nvSpPr>
          <p:cNvPr id="205" name="Arrow205"/>
          <p:cNvSpPr txBox="1"/>
          <p:nvPr/>
        </p:nvSpPr>
        <p:spPr>
          <a:xfrm>
            <a:off x="3431927" y="3234539"/>
            <a:ext cx="6100000" cy="26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▼</a:t>
            </a:r>
          </a:p>
        </p:txBody>
      </p:sp>
      <p:sp>
        <p:nvSpPr>
          <p:cNvPr id="206" name="FlowBox206"/>
          <p:cNvSpPr/>
          <p:nvPr/>
        </p:nvSpPr>
        <p:spPr>
          <a:xfrm>
            <a:off x="3517695" y="3494539"/>
            <a:ext cx="6100000" cy="6200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sz="1500" b="1" dirty="0">
                <a:solidFill>
                  <a:schemeClr val="bg1"/>
                </a:solidFill>
              </a:rPr>
              <a:t>Double Polynomial Hashing (fingerprint each shingle)</a:t>
            </a:r>
          </a:p>
        </p:txBody>
      </p:sp>
      <p:sp>
        <p:nvSpPr>
          <p:cNvPr id="207" name="Arrow207"/>
          <p:cNvSpPr txBox="1"/>
          <p:nvPr/>
        </p:nvSpPr>
        <p:spPr>
          <a:xfrm>
            <a:off x="3431927" y="4139078"/>
            <a:ext cx="6100000" cy="26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▼</a:t>
            </a:r>
          </a:p>
        </p:txBody>
      </p:sp>
      <p:sp>
        <p:nvSpPr>
          <p:cNvPr id="208" name="FlowBox208"/>
          <p:cNvSpPr/>
          <p:nvPr/>
        </p:nvSpPr>
        <p:spPr>
          <a:xfrm>
            <a:off x="3517695" y="4362269"/>
            <a:ext cx="6100000" cy="6200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sz="1500" b="1" dirty="0">
                <a:solidFill>
                  <a:schemeClr val="bg1"/>
                </a:solidFill>
              </a:rPr>
              <a:t>LSH Banding → Candidate Duplicate Pairs</a:t>
            </a:r>
          </a:p>
        </p:txBody>
      </p:sp>
      <p:sp>
        <p:nvSpPr>
          <p:cNvPr id="209" name="Arrow209"/>
          <p:cNvSpPr txBox="1"/>
          <p:nvPr/>
        </p:nvSpPr>
        <p:spPr>
          <a:xfrm>
            <a:off x="3431927" y="4994538"/>
            <a:ext cx="6100000" cy="26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▼</a:t>
            </a:r>
          </a:p>
        </p:txBody>
      </p:sp>
      <p:sp>
        <p:nvSpPr>
          <p:cNvPr id="210" name="FlowBox210"/>
          <p:cNvSpPr/>
          <p:nvPr/>
        </p:nvSpPr>
        <p:spPr>
          <a:xfrm>
            <a:off x="3517695" y="5154235"/>
            <a:ext cx="6100000" cy="6200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sz="1500" b="1" dirty="0">
                <a:solidFill>
                  <a:schemeClr val="bg1"/>
                </a:solidFill>
              </a:rPr>
              <a:t>Exact Common-Substring Verification → Final Duplicate Pairs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201" name="ContentBox201"/>
          <p:cNvSpPr txBox="1"/>
          <p:nvPr/>
        </p:nvSpPr>
        <p:spPr>
          <a:xfrm>
            <a:off x="3736109" y="900000"/>
            <a:ext cx="6936386" cy="1350000"/>
          </a:xfrm>
          <a:prstGeom prst="rect">
            <a:avLst/>
          </a:prstGeom>
          <a:noFill/>
        </p:spPr>
        <p:txBody>
          <a:bodyPr wrap="square" rtlCol="0" anchor="t">
            <a:normAutofit fontScale="85000" lnSpcReduction="10000"/>
          </a:bodyPr>
          <a:lstStyle/>
          <a:p>
            <a:pPr marL="342900" indent="-342900" algn="l">
              <a:lnSpc>
                <a:spcPct val="115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Evaluated on a sample set of question pairs drawn from a public Q&amp;A duplicate-question corpus.</a:t>
            </a:r>
          </a:p>
          <a:p>
            <a:pPr marL="342900" indent="-342900" algn="l">
              <a:lnSpc>
                <a:spcPct val="115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Metrics are compared at two stages of the pipeline — raw LSH candidates, and after exact common-substring verification.</a:t>
            </a:r>
          </a:p>
        </p:txBody>
      </p:sp>
      <p:graphicFrame>
        <p:nvGraphicFramePr>
          <p:cNvPr id="210" name="ResultsTable"/>
          <p:cNvGraphicFramePr>
            <a:graphicFrameLocks noGrp="1"/>
          </p:cNvGraphicFramePr>
          <p:nvPr/>
        </p:nvGraphicFramePr>
        <p:xfrm>
          <a:off x="3886109" y="2350000"/>
          <a:ext cx="6600000" cy="15124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6666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F1-score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66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LSH candidates only</a:t>
                      </a:r>
                    </a:p>
                  </a:txBody>
                  <a:tcPr anchor="ctr">
                    <a:solidFill>
                      <a:srgbClr val="FFF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0.63</a:t>
                      </a:r>
                    </a:p>
                  </a:txBody>
                  <a:tcPr anchor="ctr">
                    <a:solidFill>
                      <a:srgbClr val="FFF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0.94</a:t>
                      </a:r>
                    </a:p>
                  </a:txBody>
                  <a:tcPr anchor="ctr">
                    <a:solidFill>
                      <a:srgbClr val="FFF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0.75</a:t>
                      </a:r>
                    </a:p>
                  </a:txBody>
                  <a:tcPr anchor="ctr">
                    <a:solidFill>
                      <a:srgbClr val="FF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66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After verification</a:t>
                      </a:r>
                    </a:p>
                  </a:txBody>
                  <a:tcPr anchor="ctr">
                    <a:solidFill>
                      <a:srgbClr val="FFF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0.91</a:t>
                      </a:r>
                    </a:p>
                  </a:txBody>
                  <a:tcPr anchor="ctr">
                    <a:solidFill>
                      <a:srgbClr val="FFF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0.90</a:t>
                      </a:r>
                    </a:p>
                  </a:txBody>
                  <a:tcPr anchor="ctr">
                    <a:solidFill>
                      <a:srgbClr val="FFF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0.90</a:t>
                      </a:r>
                    </a:p>
                  </a:txBody>
                  <a:tcPr anchor="ctr">
                    <a:solidFill>
                      <a:srgbClr val="FF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2" name="ContentBox202"/>
          <p:cNvSpPr txBox="1"/>
          <p:nvPr/>
        </p:nvSpPr>
        <p:spPr>
          <a:xfrm>
            <a:off x="3736109" y="3900000"/>
            <a:ext cx="6936386" cy="8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115000"/>
              </a:lnSpc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</a:rPr>
              <a:t>Precision gain from verification stage: +28 percentage points (0.63 → 0.91), at a small recall cost.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203" name="ContentBox203"/>
          <p:cNvSpPr txBox="1"/>
          <p:nvPr/>
        </p:nvSpPr>
        <p:spPr>
          <a:xfrm>
            <a:off x="3736109" y="900000"/>
            <a:ext cx="6936386" cy="5750000"/>
          </a:xfrm>
          <a:prstGeom prst="rect">
            <a:avLst/>
          </a:prstGeom>
          <a:noFill/>
        </p:spPr>
        <p:txBody>
          <a:bodyPr wrap="square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C00000"/>
                </a:solidFill>
                <a:latin typeface="Calibri" panose="020F0502020204030204" pitchFamily="34" charset="0"/>
              </a:rPr>
              <a:t>Hardware Requirements</a:t>
            </a:r>
          </a:p>
          <a:p>
            <a:pPr marL="342900" indent="-342900" algn="l">
              <a:lnSpc>
                <a:spcPct val="115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Standard laptop / desktop – Intel i5 (or equivalent) processor</a:t>
            </a:r>
          </a:p>
          <a:p>
            <a:pPr marL="342900" indent="-342900" algn="l">
              <a:lnSpc>
                <a:spcPct val="115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8 GB RAM or higher, ~5 GB free disk space</a:t>
            </a:r>
          </a:p>
          <a:p>
            <a:pPr marL="342900" indent="-342900" algn="l">
              <a:lnSpc>
                <a:spcPct val="115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No GPU required — the pipeline relies on hashing, not deep learning</a:t>
            </a:r>
          </a:p>
          <a:p>
            <a:pPr marL="0" indent="0" algn="l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C00000"/>
                </a:solidFill>
                <a:latin typeface="Calibri" panose="020F0502020204030204" pitchFamily="34" charset="0"/>
              </a:rPr>
              <a:t>Software Requirements</a:t>
            </a:r>
          </a:p>
          <a:p>
            <a:pPr marL="342900" indent="-342900" algn="l">
              <a:lnSpc>
                <a:spcPct val="115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Python 3.9+</a:t>
            </a:r>
          </a:p>
          <a:p>
            <a:pPr marL="342900" indent="-342900" algn="l">
              <a:lnSpc>
                <a:spcPct val="115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Libraries: pandas, NumPy, re / NLTK for text pre-processing</a:t>
            </a:r>
          </a:p>
          <a:p>
            <a:pPr marL="342900" indent="-342900" algn="l">
              <a:lnSpc>
                <a:spcPct val="115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Custom polynomial rolling-hash and LSH-banding modules (or datasketch for MinHash/LSH)</a:t>
            </a:r>
          </a:p>
          <a:p>
            <a:pPr marL="342900" indent="-342900" algn="l">
              <a:lnSpc>
                <a:spcPct val="115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Jupyter Notebook / VS Code as the development environment</a:t>
            </a:r>
          </a:p>
          <a:p>
            <a:pPr marL="342900" indent="-342900" algn="l">
              <a:lnSpc>
                <a:spcPct val="115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Dataset: Quora Question Pairs / Stack Overflow duplicate-question corpus (CSV)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204" name="ContentBox204"/>
          <p:cNvSpPr txBox="1"/>
          <p:nvPr/>
        </p:nvSpPr>
        <p:spPr>
          <a:xfrm>
            <a:off x="3736109" y="900000"/>
            <a:ext cx="6936386" cy="575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 algn="l">
              <a:lnSpc>
                <a:spcPct val="115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A complete, DSA-driven pipeline for near-duplicate question detection was designed: shingling → double polynomial hashing → LSH → exact common-substring verification.</a:t>
            </a:r>
          </a:p>
          <a:p>
            <a:pPr marL="342900" indent="-342900" algn="l">
              <a:lnSpc>
                <a:spcPct val="115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LSH alone gives high recall but lets through many false positives; the verification stage measurably raises precision at only a small recall cost.</a:t>
            </a:r>
          </a:p>
          <a:p>
            <a:pPr marL="342900" indent="-342900" algn="l">
              <a:lnSpc>
                <a:spcPct val="115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Because it relies on hashing rather than deep learning, the approach scales to large question corpora with modest hardware.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</p:txBody>
      </p:sp>
      <p:sp>
        <p:nvSpPr>
          <p:cNvPr id="205" name="ContentBox205"/>
          <p:cNvSpPr txBox="1"/>
          <p:nvPr/>
        </p:nvSpPr>
        <p:spPr>
          <a:xfrm>
            <a:off x="3736109" y="900000"/>
            <a:ext cx="6936386" cy="575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 algn="l">
              <a:lnSpc>
                <a:spcPct val="115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Combine syntactic (shingle/hash) similarity with semantic embeddings to also catch paraphrased duplicates.</a:t>
            </a:r>
          </a:p>
          <a:p>
            <a:pPr marL="342900" indent="-342900" algn="l">
              <a:lnSpc>
                <a:spcPct val="115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Deploy as a real-time check at question-submission time, warning users before they post a duplicate.</a:t>
            </a:r>
          </a:p>
          <a:p>
            <a:pPr marL="342900" indent="-342900" algn="l">
              <a:lnSpc>
                <a:spcPct val="115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Extend LSH to a distributed / streaming setting for very large, continuously growing platforms.</a:t>
            </a:r>
          </a:p>
          <a:p>
            <a:pPr marL="342900" indent="-342900" algn="l">
              <a:lnSpc>
                <a:spcPct val="115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Add support for multilingual questions and code-snippet-aware duplicate detection.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831</Words>
  <Application>Microsoft Office PowerPoint</Application>
  <PresentationFormat>Widescreen</PresentationFormat>
  <Paragraphs>92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       Data Structures and Algorithms -3 (25CS2103E)  Near-Duplicate Question Finder for Q&amp;A Platforms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Penmatsa Gowtham Varma</cp:lastModifiedBy>
  <cp:revision>20</cp:revision>
  <dcterms:created xsi:type="dcterms:W3CDTF">2024-08-29T05:25:00Z</dcterms:created>
  <dcterms:modified xsi:type="dcterms:W3CDTF">2026-08-24T03:45:25Z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